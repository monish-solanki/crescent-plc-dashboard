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1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165A"/>
    <a:srgbClr val="745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67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2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9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5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58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1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8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44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9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2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6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766A6-3C10-4AB8-86A1-BB1F0CDA7EFE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2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64" r:id="rId6"/>
    <p:sldLayoutId id="2147483860" r:id="rId7"/>
    <p:sldLayoutId id="2147483861" r:id="rId8"/>
    <p:sldLayoutId id="2147483862" r:id="rId9"/>
    <p:sldLayoutId id="2147483863" r:id="rId10"/>
    <p:sldLayoutId id="214748386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kern="120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A9B06D8-F0B8-433D-814C-0A14E9E87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003936-5B12-D713-9FD6-F72A2302E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00" r="-1" b="8363"/>
          <a:stretch>
            <a:fillRect/>
          </a:stretch>
        </p:blipFill>
        <p:spPr>
          <a:xfrm>
            <a:off x="5695949" y="596644"/>
            <a:ext cx="6748854" cy="56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A5B8EB-675D-E966-34C8-CA97043C1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559" y="2219538"/>
            <a:ext cx="4891390" cy="2021722"/>
          </a:xfrm>
        </p:spPr>
        <p:txBody>
          <a:bodyPr anchor="ctr">
            <a:normAutofit fontScale="90000"/>
          </a:bodyPr>
          <a:lstStyle/>
          <a:p>
            <a:r>
              <a:rPr lang="en-GB" b="1" dirty="0">
                <a:solidFill>
                  <a:srgbClr val="26165A"/>
                </a:solidFill>
              </a:rPr>
              <a:t>Crescent Plc</a:t>
            </a:r>
            <a:br>
              <a:rPr lang="en-GB" b="1" dirty="0">
                <a:solidFill>
                  <a:srgbClr val="26165A"/>
                </a:solidFill>
              </a:rPr>
            </a:br>
            <a:endParaRPr lang="en-GB" b="1" dirty="0">
              <a:solidFill>
                <a:srgbClr val="26165A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1892A-9351-09DB-7803-A16589DAC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682" y="3471742"/>
            <a:ext cx="5058267" cy="2608208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“Do discounts and sales lead to more repeat customers, or just one-time purchases?”</a:t>
            </a:r>
          </a:p>
        </p:txBody>
      </p:sp>
    </p:spTree>
    <p:extLst>
      <p:ext uri="{BB962C8B-B14F-4D97-AF65-F5344CB8AC3E}">
        <p14:creationId xmlns:p14="http://schemas.microsoft.com/office/powerpoint/2010/main" val="991654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CB46-2652-7686-AC3A-A320C3F02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26165A"/>
                </a:solidFill>
              </a:rPr>
              <a:t>Overall Performance</a:t>
            </a:r>
            <a:endParaRPr lang="en-GB" dirty="0">
              <a:solidFill>
                <a:srgbClr val="26165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BF02C-D329-E52D-8609-BD0CA4613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875"/>
            <a:ext cx="8801911" cy="4236087"/>
          </a:xfrm>
        </p:spPr>
        <p:txBody>
          <a:bodyPr>
            <a:normAutofit/>
          </a:bodyPr>
          <a:lstStyle/>
          <a:p>
            <a:r>
              <a:rPr lang="en-GB" sz="3200" dirty="0"/>
              <a:t>Total Revenue Reached £431K</a:t>
            </a:r>
          </a:p>
          <a:p>
            <a:r>
              <a:rPr lang="en-GB" sz="3200" dirty="0"/>
              <a:t>Profit of £173K</a:t>
            </a:r>
          </a:p>
          <a:p>
            <a:r>
              <a:rPr lang="en-GB" sz="3200" dirty="0"/>
              <a:t>Repeat Purchases are 36.65%</a:t>
            </a:r>
          </a:p>
          <a:p>
            <a:r>
              <a:rPr lang="en-GB" sz="3200" dirty="0"/>
              <a:t>Average Customer Lifetime Value if £215.69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8B601B-361B-3B7F-A5E1-013B1124E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329" y="1223271"/>
            <a:ext cx="1629002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10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310ED-D4E5-3118-FF9E-D89F6CB3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EA6C-EDC9-1250-D909-35AC85A87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26165A"/>
                </a:solidFill>
              </a:rPr>
              <a:t>Repeat Rate% by Promotion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8ABE8-8DF0-47DD-C7EE-8C5733288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612" y="1948051"/>
            <a:ext cx="6070775" cy="432000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30BA59C-CD7F-E2A2-AA82-B0AE94020176}"/>
              </a:ext>
            </a:extLst>
          </p:cNvPr>
          <p:cNvSpPr/>
          <p:nvPr/>
        </p:nvSpPr>
        <p:spPr>
          <a:xfrm>
            <a:off x="1974715" y="2597285"/>
            <a:ext cx="1663430" cy="9533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67E45-954F-3A54-B84B-B9804EBED4CF}"/>
              </a:ext>
            </a:extLst>
          </p:cNvPr>
          <p:cNvSpPr txBox="1"/>
          <p:nvPr/>
        </p:nvSpPr>
        <p:spPr>
          <a:xfrm>
            <a:off x="315608" y="2597285"/>
            <a:ext cx="19957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DRIVES THE HIGHEST REPEAT PURCHASING</a:t>
            </a:r>
          </a:p>
        </p:txBody>
      </p:sp>
    </p:spTree>
    <p:extLst>
      <p:ext uri="{BB962C8B-B14F-4D97-AF65-F5344CB8AC3E}">
        <p14:creationId xmlns:p14="http://schemas.microsoft.com/office/powerpoint/2010/main" val="1855672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72B54-F2A8-3F59-6495-6ECDB8AF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2765D-B1F3-1B76-79E9-82B07894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8165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26165A"/>
                </a:solidFill>
              </a:rPr>
              <a:t>Average LTV by Promotion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C90589-8A60-E73C-2A2E-12D7169F6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735" y="1713103"/>
            <a:ext cx="6380527" cy="432000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58E8D16E-3A4D-63A4-75BB-64731AD4C62A}"/>
              </a:ext>
            </a:extLst>
          </p:cNvPr>
          <p:cNvSpPr/>
          <p:nvPr/>
        </p:nvSpPr>
        <p:spPr>
          <a:xfrm>
            <a:off x="2148113" y="2355985"/>
            <a:ext cx="1363031" cy="9533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1FD894-1C70-3E79-C9C8-AD6D95F673F1}"/>
              </a:ext>
            </a:extLst>
          </p:cNvPr>
          <p:cNvSpPr txBox="1"/>
          <p:nvPr/>
        </p:nvSpPr>
        <p:spPr>
          <a:xfrm>
            <a:off x="410739" y="1909310"/>
            <a:ext cx="2717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GENERATES HIGHEST LIFETIME VALUE CUSTOMERS</a:t>
            </a:r>
          </a:p>
        </p:txBody>
      </p:sp>
    </p:spTree>
    <p:extLst>
      <p:ext uri="{BB962C8B-B14F-4D97-AF65-F5344CB8AC3E}">
        <p14:creationId xmlns:p14="http://schemas.microsoft.com/office/powerpoint/2010/main" val="1344969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785489-E029-D5D6-7289-3B70450BD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84816-591C-33BD-B91D-D8E5BBB1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053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26165A"/>
                </a:solidFill>
              </a:rPr>
              <a:t>Repeat Rate% from Traffic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FD740-9C44-6CCA-4AC0-6D07B56F8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236" y="1690688"/>
            <a:ext cx="5975526" cy="43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9CC860-A90B-418A-11CA-C0D13180DF90}"/>
              </a:ext>
            </a:extLst>
          </p:cNvPr>
          <p:cNvSpPr txBox="1"/>
          <p:nvPr/>
        </p:nvSpPr>
        <p:spPr>
          <a:xfrm>
            <a:off x="359151" y="2096362"/>
            <a:ext cx="19957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EMAILS GENERATE HIGHEST TRAFFIC LEADING TO PURCHASE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61685B8-22D7-3048-4FBF-EECBA6A40400}"/>
              </a:ext>
            </a:extLst>
          </p:cNvPr>
          <p:cNvSpPr/>
          <p:nvPr/>
        </p:nvSpPr>
        <p:spPr>
          <a:xfrm>
            <a:off x="1944914" y="2341471"/>
            <a:ext cx="1773059" cy="9533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793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8CECDE-843F-595B-1AEE-D1C54F3A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2E11-8481-54E8-595C-8C7E578BC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053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26165A"/>
                </a:solidFill>
              </a:rPr>
              <a:t>Promotion Based Purchasing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10069E-E535-1EE9-AA70-962B31BC7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780" y="1709678"/>
            <a:ext cx="8680437" cy="432000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1D25592-2893-A3D9-C14F-0E68FD9B4AE4}"/>
              </a:ext>
            </a:extLst>
          </p:cNvPr>
          <p:cNvSpPr/>
          <p:nvPr/>
        </p:nvSpPr>
        <p:spPr>
          <a:xfrm>
            <a:off x="1006170" y="4173166"/>
            <a:ext cx="1363031" cy="749365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FE1FA4-9B5A-CDA6-0EDC-3201A744ADF8}"/>
              </a:ext>
            </a:extLst>
          </p:cNvPr>
          <p:cNvSpPr txBox="1"/>
          <p:nvPr/>
        </p:nvSpPr>
        <p:spPr>
          <a:xfrm>
            <a:off x="185442" y="2819276"/>
            <a:ext cx="21837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GENERATES LARGEST AMOUNT OF REPEAT CUSTOMERS</a:t>
            </a:r>
          </a:p>
        </p:txBody>
      </p:sp>
    </p:spTree>
    <p:extLst>
      <p:ext uri="{BB962C8B-B14F-4D97-AF65-F5344CB8AC3E}">
        <p14:creationId xmlns:p14="http://schemas.microsoft.com/office/powerpoint/2010/main" val="3772377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F67E09-E460-688F-7BCC-DE1F65FD9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44C6F-F238-F155-5EB5-B07543FD8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78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26165A"/>
                </a:solidFill>
              </a:rPr>
              <a:t>Revenue Trend 2024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E6608-067E-918F-73B3-F476A024E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749" y="1769410"/>
            <a:ext cx="8626500" cy="4320000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80F690B2-A159-B496-1FE5-1961C9B6708B}"/>
              </a:ext>
            </a:extLst>
          </p:cNvPr>
          <p:cNvSpPr/>
          <p:nvPr/>
        </p:nvSpPr>
        <p:spPr>
          <a:xfrm rot="10800000">
            <a:off x="9527600" y="2120629"/>
            <a:ext cx="1363031" cy="749365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34224-1FC1-C96F-C157-95CAFADCC0F2}"/>
              </a:ext>
            </a:extLst>
          </p:cNvPr>
          <p:cNvSpPr txBox="1"/>
          <p:nvPr/>
        </p:nvSpPr>
        <p:spPr>
          <a:xfrm>
            <a:off x="10355953" y="2753262"/>
            <a:ext cx="19956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POSITIVE TREND,</a:t>
            </a:r>
          </a:p>
          <a:p>
            <a:r>
              <a:rPr lang="en-GB" dirty="0"/>
              <a:t>PEAK AROUND NOVEMBER.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21649C-220F-7C0E-FF58-C2B23732343F}"/>
              </a:ext>
            </a:extLst>
          </p:cNvPr>
          <p:cNvSpPr txBox="1"/>
          <p:nvPr/>
        </p:nvSpPr>
        <p:spPr>
          <a:xfrm>
            <a:off x="1782749" y="6250855"/>
            <a:ext cx="8380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SUGGESTS PROMOTIONS ARE MORE EFFECTIVE BASED ON SEASONALITY</a:t>
            </a:r>
          </a:p>
        </p:txBody>
      </p:sp>
    </p:spTree>
    <p:extLst>
      <p:ext uri="{BB962C8B-B14F-4D97-AF65-F5344CB8AC3E}">
        <p14:creationId xmlns:p14="http://schemas.microsoft.com/office/powerpoint/2010/main" val="324195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F097B2-2A3B-1394-8926-43940C604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10749-4ACB-14C9-6ECE-8999EA91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78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26165A"/>
                </a:solidFill>
              </a:rP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C0E5E-C2DC-7D7A-CC84-8D915A22A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875"/>
            <a:ext cx="8801911" cy="4236087"/>
          </a:xfrm>
        </p:spPr>
        <p:txBody>
          <a:bodyPr>
            <a:normAutofit/>
          </a:bodyPr>
          <a:lstStyle/>
          <a:p>
            <a:r>
              <a:rPr lang="en-GB" sz="3200" dirty="0"/>
              <a:t>BOGOF contributes to the most repeat purchases, is the most valuable LTV.</a:t>
            </a:r>
          </a:p>
          <a:p>
            <a:r>
              <a:rPr lang="en-GB" sz="3200" dirty="0"/>
              <a:t>Email generates the most traffic leading to purchases.</a:t>
            </a:r>
          </a:p>
          <a:p>
            <a:r>
              <a:rPr lang="en-GB" sz="3200" dirty="0"/>
              <a:t>No promotions often lead to one-time purchases.</a:t>
            </a:r>
          </a:p>
          <a:p>
            <a:r>
              <a:rPr lang="en-GB" sz="3200" dirty="0"/>
              <a:t>Positive Revenue Trend 2024.</a:t>
            </a:r>
          </a:p>
        </p:txBody>
      </p:sp>
    </p:spTree>
    <p:extLst>
      <p:ext uri="{BB962C8B-B14F-4D97-AF65-F5344CB8AC3E}">
        <p14:creationId xmlns:p14="http://schemas.microsoft.com/office/powerpoint/2010/main" val="1706110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BE539-0E31-1047-FE7F-121A1097B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98D80-9AF8-6E8F-B1AD-75B68FEA7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78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26165A"/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7D2CF-0E85-BE0C-C4B5-95066EA28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875"/>
            <a:ext cx="8801911" cy="4236087"/>
          </a:xfrm>
        </p:spPr>
        <p:txBody>
          <a:bodyPr>
            <a:normAutofit/>
          </a:bodyPr>
          <a:lstStyle/>
          <a:p>
            <a:r>
              <a:rPr lang="en-GB" sz="3200" dirty="0"/>
              <a:t>Prioritise BOGOF promotions, lead to the most customer retention.</a:t>
            </a:r>
          </a:p>
          <a:p>
            <a:r>
              <a:rPr lang="en-GB" sz="3200" dirty="0"/>
              <a:t>Use Percent off and Free Shipping to attract new customers (short term/seasonality).</a:t>
            </a:r>
          </a:p>
          <a:p>
            <a:r>
              <a:rPr lang="en-GB" sz="3200" dirty="0"/>
              <a:t>Utilise Email to promote repeat purchases.</a:t>
            </a:r>
          </a:p>
          <a:p>
            <a:r>
              <a:rPr lang="en-GB" sz="3200" dirty="0"/>
              <a:t>Monitor promotions throughout next quarter.</a:t>
            </a:r>
          </a:p>
        </p:txBody>
      </p:sp>
    </p:spTree>
    <p:extLst>
      <p:ext uri="{BB962C8B-B14F-4D97-AF65-F5344CB8AC3E}">
        <p14:creationId xmlns:p14="http://schemas.microsoft.com/office/powerpoint/2010/main" val="4272383339"/>
      </p:ext>
    </p:extLst>
  </p:cSld>
  <p:clrMapOvr>
    <a:masterClrMapping/>
  </p:clrMapOvr>
</p:sld>
</file>

<file path=ppt/theme/theme1.xml><?xml version="1.0" encoding="utf-8"?>
<a:theme xmlns:a="http://schemas.openxmlformats.org/drawingml/2006/main" name="FadeVTI">
  <a:themeElements>
    <a:clrScheme name="gradient">
      <a:dk1>
        <a:sysClr val="windowText" lastClr="000000"/>
      </a:dk1>
      <a:lt1>
        <a:sysClr val="window" lastClr="FFFFFF"/>
      </a:lt1>
      <a:dk2>
        <a:srgbClr val="203040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DA2A69"/>
      </a:accent6>
      <a:hlink>
        <a:srgbClr val="3E8FF1"/>
      </a:hlink>
      <a:folHlink>
        <a:srgbClr val="939393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179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Aharoni</vt:lpstr>
      <vt:lpstr>Arial</vt:lpstr>
      <vt:lpstr>Avenir Next LT Pro</vt:lpstr>
      <vt:lpstr>FadeVTI</vt:lpstr>
      <vt:lpstr>Crescent Plc </vt:lpstr>
      <vt:lpstr>Overall Performance</vt:lpstr>
      <vt:lpstr>Repeat Rate% by Promotion</vt:lpstr>
      <vt:lpstr>Average LTV by Promotion</vt:lpstr>
      <vt:lpstr>Repeat Rate% from Traffic</vt:lpstr>
      <vt:lpstr>Promotion Based Purchasing </vt:lpstr>
      <vt:lpstr>Revenue Trend 2024</vt:lpstr>
      <vt:lpstr>Key Takeaways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Monish Solanki</dc:creator>
  <cp:lastModifiedBy>Monish Solanki</cp:lastModifiedBy>
  <cp:revision>4</cp:revision>
  <dcterms:created xsi:type="dcterms:W3CDTF">2026-02-17T21:38:02Z</dcterms:created>
  <dcterms:modified xsi:type="dcterms:W3CDTF">2026-02-17T23:03:32Z</dcterms:modified>
</cp:coreProperties>
</file>